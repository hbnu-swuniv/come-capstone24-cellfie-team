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06" r:id="rId3"/>
    <p:sldId id="311" r:id="rId4"/>
    <p:sldId id="312" r:id="rId5"/>
    <p:sldId id="307" r:id="rId6"/>
    <p:sldId id="308" r:id="rId7"/>
    <p:sldId id="313" r:id="rId8"/>
    <p:sldId id="31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79" autoAdjust="0"/>
  </p:normalViewPr>
  <p:slideViewPr>
    <p:cSldViewPr snapToGrid="0">
      <p:cViewPr varScale="1">
        <p:scale>
          <a:sx n="106" d="100"/>
          <a:sy n="106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ADC87-851B-4E5D-81DC-476870CECC2E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7167F-2C66-4C20-B459-B798636EC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856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1F58D9-E8E2-1DB1-F621-E6BDB9352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6AA5EE-CF68-11A4-AF5C-5B1810119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FD0DF7-6B7E-8561-1D7A-8F66A0D65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ABE7-6974-4C78-89D4-1417933A483A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645E2B-2B1D-E517-18B2-2A61F3865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FFAAA9-4521-93B9-37B6-F648ADDE8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8AB5-80CB-47E6-99C4-3EEF2E000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301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2D7A2-F26A-234D-A794-648FF4260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A33D8C-3BD0-E9A1-FEB5-5D0E972D6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590697-5C08-C701-75BC-C6262D480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ABE7-6974-4C78-89D4-1417933A483A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E42394-A8C2-2B19-B663-439EEB37C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81B907-6973-A057-C67C-FC8A8AC30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8AB5-80CB-47E6-99C4-3EEF2E000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100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6B3C6A-18E6-25D6-6ACB-8FA2335ED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1E8F55-37E2-B5CC-B739-02094D090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86B294-DE3D-F4F6-D283-69B51C7E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ABE7-6974-4C78-89D4-1417933A483A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0E2BED-E89B-88B6-636A-DC2241801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10E582-C864-CD6F-A021-637F3C3D5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8AB5-80CB-47E6-99C4-3EEF2E000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653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1000C-3703-7B18-32C9-419EE9AED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10C1C4-D0ED-1114-B058-494675FF2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B28071-1C7E-14CF-3521-3A4EE9402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C8E289-24F3-0E42-4081-2B9432760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ABE7-6974-4C78-89D4-1417933A483A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2E67B4-BCC5-7E20-9256-019D2518B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C766D7-E633-2BD3-2D5A-893D330CD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8AB5-80CB-47E6-99C4-3EEF2E000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076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7002D-759F-5C64-D3CB-DF1B2237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8533B8-68AD-E5A2-355A-2CEA5C194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A19B9C-E2F5-ADD2-CFE7-A2052C87F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8C9EA90-2EAE-2372-D5CF-9B4A1E867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516F52-EE86-F801-027F-124A5CC1D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A2DA26C-C8F5-FBF5-A0CC-9AB083A31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ABE7-6974-4C78-89D4-1417933A483A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F7EF8C-A1C4-1196-198C-8611309F3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BA9D28-0D7C-C7FE-DC3F-EAB0931C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8AB5-80CB-47E6-99C4-3EEF2E000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14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0707C-F946-9D05-64A3-D6DAEFAD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8FC27F-19E6-7A36-4668-C1BAD5C1F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ABE7-6974-4C78-89D4-1417933A483A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12DBCC-0A2F-32A0-95BA-7E4A844B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4A8387-6A43-2539-7D3C-6EC1B9AF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8AB5-80CB-47E6-99C4-3EEF2E000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594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E6A99B-5D06-F8C6-8EE0-6EB3EAA8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ABE7-6974-4C78-89D4-1417933A483A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328F28E-8BF8-B9A0-4074-3B738F6B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E8E9B1-A165-29F7-A5EC-412D0604D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8AB5-80CB-47E6-99C4-3EEF2E000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068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8C9B18-FF16-DA41-40C0-BFEE6F1A3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CE03DE-9949-D1BF-6A08-47E0D0B14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69440B-7A84-21F2-F894-379D841D3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E2A2C1-8B51-6CB3-C168-5679E4C09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ABE7-6974-4C78-89D4-1417933A483A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501D37-0B19-01F3-228F-0DFC9F51B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8C45E3-E139-F0AC-4556-D363BA87D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8AB5-80CB-47E6-99C4-3EEF2E000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00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CBCBB-50E6-F5ED-F85B-D50959259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374EA05-1619-1B01-3148-8CF27D352E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0F3A5D-8787-39A6-35FF-40F968ED0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5FE2C9-CCAC-2DE1-8FC3-7F816EE1D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ABE7-6974-4C78-89D4-1417933A483A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8D1EDB-6ADD-FE37-E74E-4F0C38AE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1E5EC9-4F38-C48B-7735-C384F1E2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8AB5-80CB-47E6-99C4-3EEF2E000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50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283D0-A4D2-72BC-77DC-178DD5E65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9D0B62-8297-A63E-30C3-642327C98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3020BB-9488-322C-6759-67F396DE2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ABE7-6974-4C78-89D4-1417933A483A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B53595-EF21-7513-3B5E-2EB0F28F5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C978EA-903C-68DD-1580-7F789943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8AB5-80CB-47E6-99C4-3EEF2E000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944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ACB847-6EFE-7499-A6E9-8D658B1AC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CB5C3D-F5B9-23F7-CD86-A67D69DF1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E4CE86-E845-3855-D060-625F0066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9ABE7-6974-4C78-89D4-1417933A483A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8F075A-E902-D41D-71AE-EA424AFBC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83709-C534-7844-5C0B-191A48D8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8AB5-80CB-47E6-99C4-3EEF2E000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721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D6131C-71A3-6344-C8FD-435FBCC87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2F0474-BF6C-698D-B8B0-B06041C39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8F6AA9-4931-374B-0EFD-C3C2BF85BB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09ABE7-6974-4C78-89D4-1417933A483A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60003C-F721-6EB9-72CC-9CE2D3D6F8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7CC47A-4E6F-AA1E-3BD9-329689FDB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E8AB5-80CB-47E6-99C4-3EEF2E000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4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180DE06-7362-4888-AADA-7AADD57AC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8729ADC-D982-D1FF-8E05-8FA85097E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31384" y="679730"/>
            <a:ext cx="4171994" cy="3932729"/>
          </a:xfrm>
        </p:spPr>
        <p:txBody>
          <a:bodyPr>
            <a:normAutofit/>
          </a:bodyPr>
          <a:lstStyle/>
          <a:p>
            <a:pPr algn="l"/>
            <a:r>
              <a:rPr lang="ko-KR" altLang="en-US" sz="5600" b="1" dirty="0"/>
              <a:t>유수식 </a:t>
            </a:r>
            <a:br>
              <a:rPr lang="en-US" altLang="ko-KR" sz="5600" b="1" dirty="0"/>
            </a:br>
            <a:r>
              <a:rPr lang="ko-KR" altLang="en-US" sz="5600" b="1" dirty="0"/>
              <a:t>양식장 </a:t>
            </a:r>
            <a:br>
              <a:rPr lang="en-US" altLang="ko-KR" sz="5600" b="1" dirty="0"/>
            </a:br>
            <a:r>
              <a:rPr lang="ko-KR" altLang="en-US" sz="5600" b="1" dirty="0"/>
              <a:t>용존 산소량 예측 시스템</a:t>
            </a:r>
          </a:p>
        </p:txBody>
      </p:sp>
      <p:grpSp>
        <p:nvGrpSpPr>
          <p:cNvPr id="10" name="Group 14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8" y="2733627"/>
            <a:ext cx="1340409" cy="5777807"/>
            <a:chOff x="329184" y="2"/>
            <a:chExt cx="524256" cy="5777807"/>
          </a:xfrm>
        </p:grpSpPr>
        <p:cxnSp>
          <p:nvCxnSpPr>
            <p:cNvPr id="11" name="Straight Connector 15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부제목 2">
            <a:extLst>
              <a:ext uri="{FF2B5EF4-FFF2-40B4-BE49-F238E27FC236}">
                <a16:creationId xmlns:a16="http://schemas.microsoft.com/office/drawing/2014/main" id="{F7C061C5-B755-7879-7F48-8DDB9C1EB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31383" y="5227455"/>
            <a:ext cx="3876085" cy="857461"/>
          </a:xfrm>
        </p:spPr>
        <p:txBody>
          <a:bodyPr>
            <a:normAutofit/>
          </a:bodyPr>
          <a:lstStyle/>
          <a:p>
            <a:pPr algn="l"/>
            <a:r>
              <a:rPr lang="en-US" altLang="ko-KR" sz="1200" b="1" dirty="0"/>
              <a:t>20191744 </a:t>
            </a:r>
            <a:r>
              <a:rPr lang="ko-KR" altLang="en-US" sz="1200" b="1" dirty="0"/>
              <a:t>이성화</a:t>
            </a:r>
            <a:endParaRPr lang="en-US" altLang="ko-KR" sz="1200" b="1" dirty="0"/>
          </a:p>
          <a:p>
            <a:pPr algn="l"/>
            <a:r>
              <a:rPr lang="en-US" altLang="ko-KR" sz="1200" b="1" dirty="0"/>
              <a:t>20191779 </a:t>
            </a:r>
            <a:r>
              <a:rPr lang="ko-KR" altLang="en-US" sz="1200" b="1" dirty="0" err="1"/>
              <a:t>오종권</a:t>
            </a:r>
            <a:endParaRPr lang="en-US" altLang="ko-KR" sz="1200" b="1" dirty="0"/>
          </a:p>
          <a:p>
            <a:pPr algn="l"/>
            <a:r>
              <a:rPr lang="en-US" altLang="ko-KR" sz="1200" b="1" dirty="0"/>
              <a:t>20217138 </a:t>
            </a:r>
            <a:r>
              <a:rPr lang="ko-KR" altLang="en-US" sz="1200" b="1" dirty="0"/>
              <a:t>이성원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372533"/>
            <a:ext cx="6116779" cy="606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그림 7" descr="그림, 스케치, 일러스트레이션, 디자인이(가) 표시된 사진&#10;&#10;자동 생성된 설명">
            <a:extLst>
              <a:ext uri="{FF2B5EF4-FFF2-40B4-BE49-F238E27FC236}">
                <a16:creationId xmlns:a16="http://schemas.microsoft.com/office/drawing/2014/main" id="{1E58BAA8-982D-05EE-4293-1CAAD7F79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97" y="624585"/>
            <a:ext cx="5608830" cy="560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31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48226A-7DE4-A60C-8EF2-C912F8277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2000"/>
              <a:t>Cache</a:t>
            </a:r>
            <a:r>
              <a:rPr lang="ko-KR" altLang="en-US" sz="2000"/>
              <a:t>를 통한  </a:t>
            </a:r>
            <a:r>
              <a:rPr lang="en-US" altLang="ko-KR" sz="2000"/>
              <a:t>DB</a:t>
            </a:r>
            <a:r>
              <a:rPr lang="ko-KR" altLang="en-US" sz="2000"/>
              <a:t>호출 최소화</a:t>
            </a:r>
            <a:endParaRPr lang="en-US" altLang="ko-KR" sz="2000"/>
          </a:p>
          <a:p>
            <a:r>
              <a:rPr lang="ko-KR" altLang="en-US" sz="2000"/>
              <a:t>쓰레드 </a:t>
            </a:r>
            <a:r>
              <a:rPr lang="en-US" altLang="ko-KR" sz="2000"/>
              <a:t>300, </a:t>
            </a:r>
            <a:r>
              <a:rPr lang="ko-KR" altLang="en-US" sz="2000"/>
              <a:t>루프 </a:t>
            </a:r>
            <a:r>
              <a:rPr lang="en-US" altLang="ko-KR" sz="2000"/>
              <a:t>50</a:t>
            </a:r>
            <a:r>
              <a:rPr lang="ko-KR" altLang="en-US" sz="2000"/>
              <a:t>으로 설정</a:t>
            </a:r>
          </a:p>
          <a:p>
            <a:r>
              <a:rPr lang="ko-KR" altLang="en-US" sz="2000"/>
              <a:t>오류울 </a:t>
            </a:r>
            <a:r>
              <a:rPr lang="en-US" altLang="ko-KR" sz="2000"/>
              <a:t>0</a:t>
            </a:r>
            <a:r>
              <a:rPr lang="ko-KR" altLang="en-US" sz="2000"/>
              <a:t>과 빠른 응답시간 달성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C19C91E-6954-5834-6786-D2671F0A1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725432"/>
              </p:ext>
            </p:extLst>
          </p:nvPr>
        </p:nvGraphicFramePr>
        <p:xfrm>
          <a:off x="5911532" y="3470149"/>
          <a:ext cx="5150279" cy="17424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8541">
                  <a:extLst>
                    <a:ext uri="{9D8B030D-6E8A-4147-A177-3AD203B41FA5}">
                      <a16:colId xmlns:a16="http://schemas.microsoft.com/office/drawing/2014/main" val="306204486"/>
                    </a:ext>
                  </a:extLst>
                </a:gridCol>
                <a:gridCol w="845035">
                  <a:extLst>
                    <a:ext uri="{9D8B030D-6E8A-4147-A177-3AD203B41FA5}">
                      <a16:colId xmlns:a16="http://schemas.microsoft.com/office/drawing/2014/main" val="2619865272"/>
                    </a:ext>
                  </a:extLst>
                </a:gridCol>
                <a:gridCol w="857732">
                  <a:extLst>
                    <a:ext uri="{9D8B030D-6E8A-4147-A177-3AD203B41FA5}">
                      <a16:colId xmlns:a16="http://schemas.microsoft.com/office/drawing/2014/main" val="199857051"/>
                    </a:ext>
                  </a:extLst>
                </a:gridCol>
                <a:gridCol w="954548">
                  <a:extLst>
                    <a:ext uri="{9D8B030D-6E8A-4147-A177-3AD203B41FA5}">
                      <a16:colId xmlns:a16="http://schemas.microsoft.com/office/drawing/2014/main" val="1875332873"/>
                    </a:ext>
                  </a:extLst>
                </a:gridCol>
                <a:gridCol w="866645">
                  <a:extLst>
                    <a:ext uri="{9D8B030D-6E8A-4147-A177-3AD203B41FA5}">
                      <a16:colId xmlns:a16="http://schemas.microsoft.com/office/drawing/2014/main" val="2631811636"/>
                    </a:ext>
                  </a:extLst>
                </a:gridCol>
                <a:gridCol w="917778">
                  <a:extLst>
                    <a:ext uri="{9D8B030D-6E8A-4147-A177-3AD203B41FA5}">
                      <a16:colId xmlns:a16="http://schemas.microsoft.com/office/drawing/2014/main" val="4124685359"/>
                    </a:ext>
                  </a:extLst>
                </a:gridCol>
              </a:tblGrid>
              <a:tr h="580819">
                <a:tc>
                  <a:txBody>
                    <a:bodyPr/>
                    <a:lstStyle/>
                    <a:p>
                      <a:r>
                        <a:rPr lang="ko-KR" altLang="en-US" sz="1400" b="1" kern="0" spc="0">
                          <a:solidFill>
                            <a:srgbClr val="000000"/>
                          </a:solidFill>
                          <a:effectLst/>
                        </a:rPr>
                        <a:t>라벨</a:t>
                      </a:r>
                      <a:endParaRPr lang="ko-KR" altLang="en-US" sz="2300" b="1">
                        <a:effectLst/>
                      </a:endParaRPr>
                    </a:p>
                  </a:txBody>
                  <a:tcPr marL="117627" marR="117627" marT="58814" marB="58814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="1" kern="0" spc="0">
                          <a:solidFill>
                            <a:srgbClr val="000000"/>
                          </a:solidFill>
                          <a:effectLst/>
                        </a:rPr>
                        <a:t>표본 수</a:t>
                      </a:r>
                      <a:endParaRPr lang="ko-KR" altLang="en-US" sz="2300" b="1">
                        <a:effectLst/>
                      </a:endParaRPr>
                    </a:p>
                  </a:txBody>
                  <a:tcPr marL="117627" marR="117627" marT="58814" marB="58814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="1" kern="0" spc="0">
                          <a:solidFill>
                            <a:srgbClr val="000000"/>
                          </a:solidFill>
                          <a:effectLst/>
                        </a:rPr>
                        <a:t>평균</a:t>
                      </a:r>
                      <a:r>
                        <a:rPr lang="en-US" altLang="ko-KR" sz="1400" b="1" kern="0" spc="0">
                          <a:solidFill>
                            <a:srgbClr val="000000"/>
                          </a:solidFill>
                          <a:effectLst/>
                        </a:rPr>
                        <a:t>(ms)</a:t>
                      </a:r>
                      <a:endParaRPr lang="ko-KR" altLang="en-US" sz="2300" b="1">
                        <a:effectLst/>
                      </a:endParaRPr>
                    </a:p>
                  </a:txBody>
                  <a:tcPr marL="117627" marR="117627" marT="58814" marB="58814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="1" kern="0" spc="0">
                          <a:solidFill>
                            <a:srgbClr val="000000"/>
                          </a:solidFill>
                          <a:effectLst/>
                        </a:rPr>
                        <a:t>오류 </a:t>
                      </a:r>
                      <a:r>
                        <a:rPr lang="en-US" altLang="ko-KR" sz="1400" b="1" kern="0" spc="0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endParaRPr lang="ko-KR" altLang="en-US" sz="2300" b="1">
                        <a:effectLst/>
                      </a:endParaRPr>
                    </a:p>
                  </a:txBody>
                  <a:tcPr marL="117627" marR="117627" marT="58814" marB="58814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최소값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en-US" altLang="ko-KR" sz="1400" b="1" kern="0" spc="0" dirty="0" err="1">
                          <a:solidFill>
                            <a:srgbClr val="000000"/>
                          </a:solidFill>
                          <a:effectLst/>
                        </a:rPr>
                        <a:t>ms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ko-KR" altLang="en-US" sz="2300" b="1" dirty="0">
                        <a:effectLst/>
                      </a:endParaRPr>
                    </a:p>
                  </a:txBody>
                  <a:tcPr marL="117627" marR="117627" marT="58814" marB="58814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="1" kern="0" spc="0">
                          <a:solidFill>
                            <a:srgbClr val="000000"/>
                          </a:solidFill>
                          <a:effectLst/>
                        </a:rPr>
                        <a:t>최대값</a:t>
                      </a:r>
                      <a:r>
                        <a:rPr lang="en-US" altLang="ko-KR" sz="1400" b="1" kern="0" spc="0">
                          <a:solidFill>
                            <a:srgbClr val="000000"/>
                          </a:solidFill>
                          <a:effectLst/>
                        </a:rPr>
                        <a:t>(ms)</a:t>
                      </a:r>
                      <a:endParaRPr lang="ko-KR" altLang="en-US" sz="2300" b="1">
                        <a:effectLst/>
                      </a:endParaRPr>
                    </a:p>
                  </a:txBody>
                  <a:tcPr marL="117627" marR="117627" marT="58814" marB="58814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777076"/>
                  </a:ext>
                </a:extLst>
              </a:tr>
              <a:tr h="580819">
                <a:tc>
                  <a:txBody>
                    <a:bodyPr/>
                    <a:lstStyle/>
                    <a:p>
                      <a:r>
                        <a:rPr lang="ko-KR" altLang="en-US" sz="1400" b="1" kern="0" spc="0">
                          <a:solidFill>
                            <a:srgbClr val="000000"/>
                          </a:solidFill>
                          <a:effectLst/>
                        </a:rPr>
                        <a:t>수정 전</a:t>
                      </a:r>
                      <a:endParaRPr lang="ko-KR" altLang="en-US" sz="2300" b="1">
                        <a:effectLst/>
                      </a:endParaRPr>
                    </a:p>
                  </a:txBody>
                  <a:tcPr marL="117627" marR="117627" marT="58814" marB="58814" anchor="ctr"/>
                </a:tc>
                <a:tc>
                  <a:txBody>
                    <a:bodyPr/>
                    <a:lstStyle/>
                    <a:p>
                      <a:r>
                        <a:rPr lang="en-US" sz="1400" b="0" kern="0" spc="0">
                          <a:solidFill>
                            <a:srgbClr val="000000"/>
                          </a:solidFill>
                          <a:effectLst/>
                        </a:rPr>
                        <a:t>10314</a:t>
                      </a:r>
                      <a:endParaRPr lang="en-US" sz="2300" b="0">
                        <a:effectLst/>
                      </a:endParaRPr>
                    </a:p>
                  </a:txBody>
                  <a:tcPr marL="117627" marR="117627" marT="58814" marB="58814" anchor="ctr"/>
                </a:tc>
                <a:tc>
                  <a:txBody>
                    <a:bodyPr/>
                    <a:lstStyle/>
                    <a:p>
                      <a:r>
                        <a:rPr lang="en-US" sz="1400" b="0" kern="0" spc="0">
                          <a:solidFill>
                            <a:srgbClr val="000000"/>
                          </a:solidFill>
                          <a:effectLst/>
                        </a:rPr>
                        <a:t>12051</a:t>
                      </a:r>
                      <a:endParaRPr lang="en-US" sz="2300" b="0">
                        <a:effectLst/>
                      </a:endParaRPr>
                    </a:p>
                  </a:txBody>
                  <a:tcPr marL="117627" marR="117627" marT="58814" marB="58814" anchor="ctr"/>
                </a:tc>
                <a:tc>
                  <a:txBody>
                    <a:bodyPr/>
                    <a:lstStyle/>
                    <a:p>
                      <a:r>
                        <a:rPr lang="en-US" sz="1400" b="0" kern="0" spc="0">
                          <a:solidFill>
                            <a:srgbClr val="000000"/>
                          </a:solidFill>
                          <a:effectLst/>
                        </a:rPr>
                        <a:t>12.29%</a:t>
                      </a:r>
                      <a:endParaRPr lang="en-US" sz="2300" b="0">
                        <a:effectLst/>
                      </a:endParaRPr>
                    </a:p>
                  </a:txBody>
                  <a:tcPr marL="117627" marR="117627" marT="58814" marB="58814" anchor="ctr"/>
                </a:tc>
                <a:tc>
                  <a:txBody>
                    <a:bodyPr/>
                    <a:lstStyle/>
                    <a:p>
                      <a:r>
                        <a:rPr lang="en-US" sz="1400" b="0" kern="0" spc="0" dirty="0">
                          <a:solidFill>
                            <a:srgbClr val="000000"/>
                          </a:solidFill>
                          <a:effectLst/>
                        </a:rPr>
                        <a:t>90</a:t>
                      </a:r>
                      <a:endParaRPr lang="en-US" sz="2300" b="0" dirty="0">
                        <a:effectLst/>
                      </a:endParaRPr>
                    </a:p>
                  </a:txBody>
                  <a:tcPr marL="117627" marR="117627" marT="58814" marB="58814" anchor="ctr"/>
                </a:tc>
                <a:tc>
                  <a:txBody>
                    <a:bodyPr/>
                    <a:lstStyle/>
                    <a:p>
                      <a:r>
                        <a:rPr lang="en-US" sz="1400" b="0" kern="0" spc="0">
                          <a:solidFill>
                            <a:srgbClr val="000000"/>
                          </a:solidFill>
                          <a:effectLst/>
                        </a:rPr>
                        <a:t>35243</a:t>
                      </a:r>
                      <a:endParaRPr lang="en-US" sz="2300" b="0">
                        <a:effectLst/>
                      </a:endParaRPr>
                    </a:p>
                  </a:txBody>
                  <a:tcPr marL="117627" marR="117627" marT="58814" marB="58814" anchor="ctr"/>
                </a:tc>
                <a:extLst>
                  <a:ext uri="{0D108BD9-81ED-4DB2-BD59-A6C34878D82A}">
                    <a16:rowId xmlns:a16="http://schemas.microsoft.com/office/drawing/2014/main" val="216631508"/>
                  </a:ext>
                </a:extLst>
              </a:tr>
              <a:tr h="580819">
                <a:tc>
                  <a:txBody>
                    <a:bodyPr/>
                    <a:lstStyle/>
                    <a:p>
                      <a:r>
                        <a:rPr lang="ko-KR" altLang="en-US" sz="1400" b="1" kern="0" spc="0">
                          <a:solidFill>
                            <a:srgbClr val="000000"/>
                          </a:solidFill>
                          <a:effectLst/>
                        </a:rPr>
                        <a:t>수정 후</a:t>
                      </a:r>
                      <a:endParaRPr lang="ko-KR" altLang="en-US" sz="2300" b="1">
                        <a:effectLst/>
                      </a:endParaRPr>
                    </a:p>
                  </a:txBody>
                  <a:tcPr marL="117627" marR="117627" marT="58814" marB="58814" anchor="ctr"/>
                </a:tc>
                <a:tc>
                  <a:txBody>
                    <a:bodyPr/>
                    <a:lstStyle/>
                    <a:p>
                      <a:r>
                        <a:rPr lang="en-US" sz="1400" b="0" kern="0" spc="0">
                          <a:solidFill>
                            <a:srgbClr val="000000"/>
                          </a:solidFill>
                          <a:effectLst/>
                        </a:rPr>
                        <a:t>15000</a:t>
                      </a:r>
                      <a:endParaRPr lang="en-US" sz="2300" b="0">
                        <a:effectLst/>
                      </a:endParaRPr>
                    </a:p>
                  </a:txBody>
                  <a:tcPr marL="117627" marR="117627" marT="58814" marB="58814" anchor="ctr"/>
                </a:tc>
                <a:tc>
                  <a:txBody>
                    <a:bodyPr/>
                    <a:lstStyle/>
                    <a:p>
                      <a:r>
                        <a:rPr lang="en-US" sz="1400" b="0" kern="0" spc="0">
                          <a:solidFill>
                            <a:srgbClr val="000000"/>
                          </a:solidFill>
                          <a:effectLst/>
                        </a:rPr>
                        <a:t>121</a:t>
                      </a:r>
                      <a:endParaRPr lang="en-US" sz="2300" b="0">
                        <a:effectLst/>
                      </a:endParaRPr>
                    </a:p>
                  </a:txBody>
                  <a:tcPr marL="117627" marR="117627" marT="58814" marB="58814" anchor="ctr"/>
                </a:tc>
                <a:tc>
                  <a:txBody>
                    <a:bodyPr/>
                    <a:lstStyle/>
                    <a:p>
                      <a:r>
                        <a:rPr lang="en-US" sz="1400" b="0" kern="0" spc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  <a:endParaRPr lang="en-US" sz="2300" b="0">
                        <a:effectLst/>
                      </a:endParaRPr>
                    </a:p>
                  </a:txBody>
                  <a:tcPr marL="117627" marR="117627" marT="58814" marB="58814" anchor="ctr"/>
                </a:tc>
                <a:tc>
                  <a:txBody>
                    <a:bodyPr/>
                    <a:lstStyle/>
                    <a:p>
                      <a:r>
                        <a:rPr lang="en-US" sz="1400" b="0" kern="0" spc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n-US" sz="2300" b="0">
                        <a:effectLst/>
                      </a:endParaRPr>
                    </a:p>
                  </a:txBody>
                  <a:tcPr marL="117627" marR="117627" marT="58814" marB="58814" anchor="ctr"/>
                </a:tc>
                <a:tc>
                  <a:txBody>
                    <a:bodyPr/>
                    <a:lstStyle/>
                    <a:p>
                      <a:r>
                        <a:rPr lang="en-US" sz="1400" b="0" kern="0" spc="0" dirty="0">
                          <a:solidFill>
                            <a:srgbClr val="000000"/>
                          </a:solidFill>
                          <a:effectLst/>
                        </a:rPr>
                        <a:t>590</a:t>
                      </a:r>
                      <a:endParaRPr lang="en-US" sz="2300" b="0" dirty="0">
                        <a:effectLst/>
                      </a:endParaRPr>
                    </a:p>
                  </a:txBody>
                  <a:tcPr marL="117627" marR="117627" marT="58814" marB="58814" anchor="ctr"/>
                </a:tc>
                <a:extLst>
                  <a:ext uri="{0D108BD9-81ED-4DB2-BD59-A6C34878D82A}">
                    <a16:rowId xmlns:a16="http://schemas.microsoft.com/office/drawing/2014/main" val="3857811009"/>
                  </a:ext>
                </a:extLst>
              </a:tr>
            </a:tbl>
          </a:graphicData>
        </a:graphic>
      </p:graphicFrame>
      <p:sp>
        <p:nvSpPr>
          <p:cNvPr id="7" name="제목 1">
            <a:extLst>
              <a:ext uri="{FF2B5EF4-FFF2-40B4-BE49-F238E27FC236}">
                <a16:creationId xmlns:a16="http://schemas.microsoft.com/office/drawing/2014/main" id="{3FEDE4BE-639A-540D-CD9C-25F1BFFE6186}"/>
              </a:ext>
            </a:extLst>
          </p:cNvPr>
          <p:cNvSpPr txBox="1">
            <a:spLocks/>
          </p:cNvSpPr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5400"/>
              <a:t>수행한 내용 </a:t>
            </a:r>
            <a:r>
              <a:rPr lang="en-US" altLang="ko-KR" sz="5400"/>
              <a:t>- Backend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96010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235F06-4341-DF25-D8F9-013B4F4B0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066123" cy="3639450"/>
          </a:xfrm>
        </p:spPr>
        <p:txBody>
          <a:bodyPr anchor="t">
            <a:normAutofit/>
          </a:bodyPr>
          <a:lstStyle/>
          <a:p>
            <a:r>
              <a:rPr lang="ko-KR" altLang="en-US" sz="2000" dirty="0"/>
              <a:t>용존산소량의 </a:t>
            </a:r>
            <a:r>
              <a:rPr lang="en-US" altLang="ko-KR" sz="2000" dirty="0"/>
              <a:t>30</a:t>
            </a:r>
            <a:r>
              <a:rPr lang="ko-KR" altLang="en-US" sz="2000" dirty="0"/>
              <a:t>분 후와 일주일 후를 예측하는 두개의 모델 탑재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887782-66A4-2259-5CB9-E3946CC26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38" y="5243276"/>
            <a:ext cx="4963218" cy="9240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31C0EB2-A466-3B4C-1B98-3C7B6B864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38" y="3550966"/>
            <a:ext cx="4610743" cy="9240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A4DC35-2F7D-BF17-52B2-308063082F06}"/>
              </a:ext>
            </a:extLst>
          </p:cNvPr>
          <p:cNvSpPr txBox="1"/>
          <p:nvPr/>
        </p:nvSpPr>
        <p:spPr>
          <a:xfrm>
            <a:off x="808638" y="3083470"/>
            <a:ext cx="1685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30</a:t>
            </a:r>
            <a:r>
              <a:rPr lang="ko-KR" altLang="en-US" sz="2000" b="1" dirty="0"/>
              <a:t>분 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6EB37D-F60E-2F36-B3C3-47E1C0053E91}"/>
              </a:ext>
            </a:extLst>
          </p:cNvPr>
          <p:cNvSpPr txBox="1"/>
          <p:nvPr/>
        </p:nvSpPr>
        <p:spPr>
          <a:xfrm>
            <a:off x="808638" y="4659093"/>
            <a:ext cx="1685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일주일 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8BDD8FD-AAE0-9E67-0A51-E16A66D80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211" y="3315300"/>
            <a:ext cx="3162741" cy="2724530"/>
          </a:xfrm>
          <a:prstGeom prst="rect">
            <a:avLst/>
          </a:prstGeom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C3B05343-BE35-B080-05A3-AA93B7F1E386}"/>
              </a:ext>
            </a:extLst>
          </p:cNvPr>
          <p:cNvSpPr txBox="1">
            <a:spLocks/>
          </p:cNvSpPr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5400"/>
              <a:t>수행한 내용 </a:t>
            </a:r>
            <a:r>
              <a:rPr lang="en-US" altLang="ko-KR" sz="5400"/>
              <a:t>- Backend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34360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501F16-E24C-BD29-58A4-FA8CA69DC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ko-KR" altLang="en-US" sz="5400" dirty="0"/>
              <a:t>수행한 내용 </a:t>
            </a:r>
            <a:r>
              <a:rPr lang="en-US" altLang="ko-KR" sz="5400" dirty="0"/>
              <a:t>- Backend</a:t>
            </a:r>
            <a:endParaRPr lang="ko-KR" altLang="en-US" sz="5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6EC49E-6CB2-4C40-71CE-588F46B31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ko-KR" altLang="en-US" sz="1800" dirty="0"/>
              <a:t>산소 포화도 계산</a:t>
            </a:r>
            <a:endParaRPr lang="en-US" altLang="ko-KR" sz="1800" dirty="0"/>
          </a:p>
          <a:p>
            <a:r>
              <a:rPr lang="ko-KR" altLang="en-US" sz="1800" dirty="0"/>
              <a:t>산소 포화도의 필요성</a:t>
            </a:r>
            <a:endParaRPr lang="en-US" altLang="ko-KR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ko-KR" altLang="en-US" sz="1800" dirty="0" err="1"/>
              <a:t>용존산소가</a:t>
            </a:r>
            <a:r>
              <a:rPr lang="ko-KR" altLang="en-US" sz="1800" dirty="0"/>
              <a:t> 동일하더라도 온도와 염분</a:t>
            </a:r>
            <a:r>
              <a:rPr lang="en-US" altLang="ko-KR" sz="1800" dirty="0"/>
              <a:t>, </a:t>
            </a:r>
            <a:r>
              <a:rPr lang="ko-KR" altLang="en-US" sz="1800" dirty="0"/>
              <a:t>기압 등에 때라 포화도 차이가 발생</a:t>
            </a:r>
            <a:endParaRPr lang="en-US" altLang="ko-KR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ko-KR" altLang="en-US" sz="1800" dirty="0"/>
              <a:t>산소 포화도를 통해 </a:t>
            </a:r>
            <a:r>
              <a:rPr lang="ko-KR" altLang="en-US" sz="1800" dirty="0" err="1"/>
              <a:t>용존산소가</a:t>
            </a:r>
            <a:r>
              <a:rPr lang="ko-KR" altLang="en-US" sz="1800" dirty="0"/>
              <a:t> 과부족한지 쉽게 판단 가능</a:t>
            </a:r>
            <a:endParaRPr lang="en-US" altLang="ko-KR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ko-KR" altLang="en-US" sz="1800" dirty="0"/>
              <a:t>산소 포화도가 과포화 상태일 때 가스 병</a:t>
            </a:r>
            <a:r>
              <a:rPr lang="en-US" altLang="ko-KR" sz="1800" dirty="0"/>
              <a:t>, </a:t>
            </a:r>
            <a:r>
              <a:rPr lang="ko-KR" altLang="en-US" sz="1800" dirty="0"/>
              <a:t>식용 감퇴와 같은 부작용 발생</a:t>
            </a:r>
            <a:endParaRPr lang="en-US" altLang="ko-KR" sz="1800" dirty="0"/>
          </a:p>
          <a:p>
            <a:pPr>
              <a:lnSpc>
                <a:spcPct val="100000"/>
              </a:lnSpc>
            </a:pPr>
            <a:r>
              <a:rPr lang="ko-KR" altLang="en-US" sz="1800" dirty="0"/>
              <a:t>계산식</a:t>
            </a:r>
            <a:endParaRPr lang="en-US" altLang="ko-KR" sz="18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1800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800" dirty="0"/>
              <a:t>온도</a:t>
            </a:r>
            <a:r>
              <a:rPr lang="en-US" altLang="ko-KR" sz="1800" dirty="0"/>
              <a:t>, </a:t>
            </a:r>
            <a:r>
              <a:rPr lang="ko-KR" altLang="en-US" sz="1800" dirty="0"/>
              <a:t>염도 용존산소량으로 산소포화도 계산 후 </a:t>
            </a:r>
            <a:br>
              <a:rPr lang="en-US" altLang="ko-KR" sz="1800" dirty="0"/>
            </a:br>
            <a:r>
              <a:rPr lang="en-US" altLang="ko-KR" sz="1800" dirty="0"/>
              <a:t>pH</a:t>
            </a:r>
            <a:r>
              <a:rPr lang="ko-KR" altLang="en-US" sz="1800" dirty="0"/>
              <a:t>와 기압을 적용하여 비율 보정</a:t>
            </a:r>
            <a:r>
              <a:rPr lang="en-US" altLang="ko-KR" sz="1800" dirty="0"/>
              <a:t>	</a:t>
            </a:r>
            <a:endParaRPr lang="ko-KR" altLang="en-US" sz="1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87DFBEC-48FC-F412-5969-29BE5D7D1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0227" y="4394356"/>
            <a:ext cx="2357101" cy="16499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4AEF6F8-25A9-0647-D879-2150BFCE7904}"/>
              </a:ext>
            </a:extLst>
          </p:cNvPr>
          <p:cNvSpPr txBox="1"/>
          <p:nvPr/>
        </p:nvSpPr>
        <p:spPr>
          <a:xfrm>
            <a:off x="7356469" y="4394356"/>
            <a:ext cx="115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결과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41A25DD-9E6B-9B29-31E9-3A147EF393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17" b="17511"/>
          <a:stretch/>
        </p:blipFill>
        <p:spPr>
          <a:xfrm>
            <a:off x="808638" y="4670951"/>
            <a:ext cx="6023189" cy="54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53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578E5AA-08B3-5F32-865D-655398C3B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ko-KR" altLang="en-US" sz="5400"/>
              <a:t>수행한 내용 </a:t>
            </a:r>
            <a:r>
              <a:rPr lang="en-US" altLang="ko-KR" sz="5400"/>
              <a:t>- </a:t>
            </a:r>
            <a:r>
              <a:rPr lang="ko-KR" altLang="en-US" sz="5400"/>
              <a:t>인공지능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128C8-2384-B3F5-CCEC-FA01EEC31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일주일 후 용존산소량 예측 모델 개선</a:t>
            </a:r>
            <a:endParaRPr lang="en-US" altLang="ko-KR" sz="2400" dirty="0"/>
          </a:p>
          <a:p>
            <a:r>
              <a:rPr lang="ko-KR" altLang="en-US" sz="2400" dirty="0"/>
              <a:t>일주일 치 데이터를 </a:t>
            </a:r>
            <a:r>
              <a:rPr lang="en-US" altLang="ko-KR" sz="2400" dirty="0"/>
              <a:t>30</a:t>
            </a:r>
            <a:r>
              <a:rPr lang="ko-KR" altLang="en-US" sz="2400" dirty="0"/>
              <a:t>분으로 나눠 </a:t>
            </a:r>
            <a:r>
              <a:rPr lang="en-US" altLang="ko-KR" sz="2400" dirty="0"/>
              <a:t>336</a:t>
            </a:r>
            <a:r>
              <a:rPr lang="ko-KR" altLang="en-US" sz="2400" dirty="0"/>
              <a:t>개의 데이터 입력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r>
              <a:rPr lang="ko-KR" altLang="en-US" sz="2400" dirty="0"/>
              <a:t>예측 결과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3578A6-0004-69C2-5240-706F9CCD7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60" y="5315220"/>
            <a:ext cx="4963218" cy="92405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AA2F3C0-AA7C-5AC5-2695-BF35AB0B8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38" y="3428682"/>
            <a:ext cx="8063758" cy="143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05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50C30F0-65F8-A42C-105B-718F343FE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ko-KR" altLang="en-US" sz="5400" dirty="0"/>
              <a:t>향후 계획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B32416-19FE-4A20-0706-2E0873A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altLang="ko-KR" sz="2400"/>
              <a:t>Frontend – </a:t>
            </a:r>
            <a:r>
              <a:rPr lang="ko-KR" altLang="en-US" sz="2400"/>
              <a:t>특정 임계점 이하로 내려가면 스마트폰 알림</a:t>
            </a:r>
            <a:endParaRPr lang="en-US" altLang="ko-KR" sz="2400"/>
          </a:p>
          <a:p>
            <a:endParaRPr lang="en-US" altLang="ko-KR" sz="2400"/>
          </a:p>
          <a:p>
            <a:r>
              <a:rPr lang="en-US" altLang="ko-KR" sz="2400"/>
              <a:t>Backend – Unity</a:t>
            </a:r>
            <a:r>
              <a:rPr lang="ko-KR" altLang="en-US" sz="2400"/>
              <a:t>를 이용한 산소발생기 시뮬레이터 개발</a:t>
            </a:r>
            <a:endParaRPr lang="en-US" altLang="ko-KR" sz="2400"/>
          </a:p>
          <a:p>
            <a:endParaRPr lang="en-US" altLang="ko-KR" sz="2400"/>
          </a:p>
          <a:p>
            <a:r>
              <a:rPr lang="ko-KR" altLang="en-US" sz="2400"/>
              <a:t>인공지능 </a:t>
            </a:r>
            <a:r>
              <a:rPr lang="en-US" altLang="ko-KR" sz="2400"/>
              <a:t>– </a:t>
            </a:r>
            <a:r>
              <a:rPr lang="ko-KR" altLang="en-US" sz="2400"/>
              <a:t>일주일 후 용존산소량 예측 모델 성능 개선</a:t>
            </a:r>
          </a:p>
        </p:txBody>
      </p:sp>
    </p:spTree>
    <p:extLst>
      <p:ext uri="{BB962C8B-B14F-4D97-AF65-F5344CB8AC3E}">
        <p14:creationId xmlns:p14="http://schemas.microsoft.com/office/powerpoint/2010/main" val="3211178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E3DD9E-899A-AF1A-27E0-46DB380A9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sz="2400" dirty="0"/>
              <a:t>수온</a:t>
            </a:r>
            <a:r>
              <a:rPr lang="en-US" altLang="ko-KR" sz="2400" dirty="0"/>
              <a:t>, </a:t>
            </a:r>
            <a:r>
              <a:rPr lang="ko-KR" altLang="en-US" sz="2400" dirty="0"/>
              <a:t>용존 산소 등에 대한 변동이 매우 적다</a:t>
            </a:r>
            <a:r>
              <a:rPr lang="en-US" altLang="ko-KR" sz="2400" dirty="0"/>
              <a:t>.</a:t>
            </a:r>
          </a:p>
          <a:p>
            <a:pPr lvl="1"/>
            <a:r>
              <a:rPr lang="ko-KR" altLang="en-US" sz="2000" dirty="0"/>
              <a:t>예측 시간 간격을 늘리면 변동 폭이 증가할 것</a:t>
            </a:r>
          </a:p>
          <a:p>
            <a:pPr lvl="1"/>
            <a:r>
              <a:rPr lang="ko-KR" altLang="en-US" sz="2000" dirty="0"/>
              <a:t>변동 폭이 적으므로</a:t>
            </a:r>
            <a:r>
              <a:rPr lang="en-US" altLang="ko-KR" sz="2000" dirty="0"/>
              <a:t>, train/test set</a:t>
            </a:r>
            <a:r>
              <a:rPr lang="ko-KR" altLang="en-US" sz="2000" dirty="0"/>
              <a:t>을 </a:t>
            </a:r>
            <a:r>
              <a:rPr lang="en-US" altLang="ko-KR" sz="2000" dirty="0"/>
              <a:t>split</a:t>
            </a:r>
            <a:r>
              <a:rPr lang="ko-KR" altLang="en-US" sz="2000" dirty="0"/>
              <a:t>할 때</a:t>
            </a:r>
            <a:r>
              <a:rPr lang="en-US" altLang="ko-KR" sz="2000" dirty="0"/>
              <a:t>, </a:t>
            </a:r>
            <a:r>
              <a:rPr lang="ko-KR" altLang="en-US" sz="2000" dirty="0"/>
              <a:t>하루분량을 </a:t>
            </a:r>
            <a:r>
              <a:rPr lang="en-US" altLang="ko-KR" sz="2000" dirty="0"/>
              <a:t>train data</a:t>
            </a:r>
            <a:r>
              <a:rPr lang="ko-KR" altLang="en-US" sz="2000" dirty="0"/>
              <a:t>에 넣고</a:t>
            </a:r>
            <a:r>
              <a:rPr lang="en-US" altLang="ko-KR" sz="2000" dirty="0"/>
              <a:t>, </a:t>
            </a:r>
            <a:r>
              <a:rPr lang="ko-KR" altLang="en-US" sz="2000" dirty="0"/>
              <a:t>그 다음 분량을 </a:t>
            </a:r>
            <a:r>
              <a:rPr lang="en-US" altLang="ko-KR" sz="2000" dirty="0"/>
              <a:t>test data</a:t>
            </a:r>
            <a:r>
              <a:rPr lang="ko-KR" altLang="en-US" sz="2000" dirty="0"/>
              <a:t>로 측정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/>
              <a:t>이것을 해야 하는 이유</a:t>
            </a:r>
            <a:r>
              <a:rPr lang="en-US" altLang="ko-KR" sz="2400" dirty="0"/>
              <a:t>?</a:t>
            </a:r>
          </a:p>
          <a:p>
            <a:pPr lvl="1"/>
            <a:r>
              <a:rPr lang="ko-KR" altLang="en-US" sz="2000" dirty="0"/>
              <a:t>용존산소량이 이미 낮은 상태를 </a:t>
            </a:r>
            <a:r>
              <a:rPr lang="en-US" altLang="ko-KR" sz="2000" dirty="0"/>
              <a:t>5</a:t>
            </a:r>
            <a:r>
              <a:rPr lang="ko-KR" altLang="en-US" sz="2000" dirty="0"/>
              <a:t>분 이상 유지하면 물고기는 모두 폐사</a:t>
            </a:r>
            <a:endParaRPr lang="en-US" altLang="ko-KR" sz="2000" dirty="0"/>
          </a:p>
          <a:p>
            <a:pPr lvl="1"/>
            <a:r>
              <a:rPr lang="ko-KR" altLang="en-US" sz="2000" dirty="0"/>
              <a:t>산소를 넣는다고 해서 바로 올라가는 것이 아니기 때문에 미리 예측하여 안전성을 높임</a:t>
            </a:r>
            <a:endParaRPr lang="en-US" altLang="ko-KR" sz="2400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AD1EC17-C832-1C64-13C3-5917F4204737}"/>
              </a:ext>
            </a:extLst>
          </p:cNvPr>
          <p:cNvSpPr txBox="1">
            <a:spLocks/>
          </p:cNvSpPr>
          <p:nvPr/>
        </p:nvSpPr>
        <p:spPr>
          <a:xfrm>
            <a:off x="961038" y="5393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800" dirty="0" err="1">
                <a:latin typeface="Arimo Bold"/>
                <a:ea typeface="Arimo Bold"/>
                <a:cs typeface="Arimo Bold"/>
                <a:sym typeface="Arimo Bold"/>
              </a:rPr>
              <a:t>캡스톤</a:t>
            </a:r>
            <a:r>
              <a:rPr lang="en-US" altLang="ko-KR" sz="4800" dirty="0"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4800" dirty="0" err="1">
                <a:latin typeface="Arimo Bold"/>
                <a:ea typeface="Arimo Bold"/>
                <a:cs typeface="Arimo Bold"/>
                <a:sym typeface="Arimo Bold"/>
              </a:rPr>
              <a:t>디자인I</a:t>
            </a:r>
            <a:r>
              <a:rPr lang="en-US" altLang="ko-KR" sz="4800" dirty="0"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4800" dirty="0" err="1">
                <a:latin typeface="Arimo Bold"/>
                <a:ea typeface="Arimo Bold"/>
                <a:cs typeface="Arimo Bold"/>
                <a:sym typeface="Arimo Bold"/>
              </a:rPr>
              <a:t>코멘트에</a:t>
            </a:r>
            <a:r>
              <a:rPr lang="en-US" altLang="ko-KR" sz="4800" dirty="0"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4800" dirty="0" err="1">
                <a:latin typeface="Arimo Bold"/>
                <a:ea typeface="Arimo Bold"/>
                <a:cs typeface="Arimo Bold"/>
                <a:sym typeface="Arimo Bold"/>
              </a:rPr>
              <a:t>대한</a:t>
            </a:r>
            <a:r>
              <a:rPr lang="en-US" altLang="ko-KR" sz="4800" dirty="0"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ko-KR" altLang="en-US" sz="4800" dirty="0">
                <a:latin typeface="Arimo Bold"/>
                <a:ea typeface="Arimo Bold"/>
                <a:cs typeface="Arimo Bold"/>
                <a:sym typeface="Arimo Bold"/>
              </a:rPr>
              <a:t>해결책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281284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FE424C6-1D9F-362D-549C-B080B785A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683"/>
            <a:ext cx="9144000" cy="2551829"/>
          </a:xfrm>
        </p:spPr>
        <p:txBody>
          <a:bodyPr anchor="ctr">
            <a:normAutofit/>
          </a:bodyPr>
          <a:lstStyle/>
          <a:p>
            <a:r>
              <a:rPr lang="en-US" altLang="ko-KR" sz="6600" dirty="0"/>
              <a:t>Q&amp;A</a:t>
            </a:r>
            <a:endParaRPr lang="ko-KR" altLang="en-US" sz="6600" dirty="0"/>
          </a:p>
        </p:txBody>
      </p:sp>
    </p:spTree>
    <p:extLst>
      <p:ext uri="{BB962C8B-B14F-4D97-AF65-F5344CB8AC3E}">
        <p14:creationId xmlns:p14="http://schemas.microsoft.com/office/powerpoint/2010/main" val="607152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1658</TotalTime>
  <Words>278</Words>
  <Application>Microsoft Office PowerPoint</Application>
  <PresentationFormat>와이드스크린</PresentationFormat>
  <Paragraphs>61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Arimo Bold</vt:lpstr>
      <vt:lpstr>맑은 고딕</vt:lpstr>
      <vt:lpstr>Arial</vt:lpstr>
      <vt:lpstr>Wingdings</vt:lpstr>
      <vt:lpstr>Office 테마</vt:lpstr>
      <vt:lpstr>유수식  양식장  용존 산소량 예측 시스템</vt:lpstr>
      <vt:lpstr>PowerPoint 프레젠테이션</vt:lpstr>
      <vt:lpstr>PowerPoint 프레젠테이션</vt:lpstr>
      <vt:lpstr>수행한 내용 - Backend</vt:lpstr>
      <vt:lpstr>수행한 내용 - 인공지능</vt:lpstr>
      <vt:lpstr>향후 계획</vt:lpstr>
      <vt:lpstr>PowerPoint 프레젠테이션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컴퓨터공학과 캡스톤</dc:title>
  <dc:creator>이성화</dc:creator>
  <cp:lastModifiedBy>이성원</cp:lastModifiedBy>
  <cp:revision>64</cp:revision>
  <dcterms:created xsi:type="dcterms:W3CDTF">2024-02-08T08:00:30Z</dcterms:created>
  <dcterms:modified xsi:type="dcterms:W3CDTF">2024-09-09T13:58:05Z</dcterms:modified>
</cp:coreProperties>
</file>